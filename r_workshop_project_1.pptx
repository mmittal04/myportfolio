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2"/>
    <p:restoredTop sz="94610"/>
  </p:normalViewPr>
  <p:slideViewPr>
    <p:cSldViewPr snapToGrid="0" snapToObjects="1">
      <p:cViewPr>
        <p:scale>
          <a:sx n="158" d="100"/>
          <a:sy n="158" d="100"/>
        </p:scale>
        <p:origin x="-12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55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805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756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942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90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624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58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588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194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773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059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945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73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FA5AC-78F4-8E48-97E2-B1A0F3ED4592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B84E7-D64D-9446-9429-8E37C57D0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8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db.com/search/title/?title_type=feature&amp;release_date=2026-01-01,2026-03-31&amp;sort=num_votes,des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dataquest.io/blog/r-projects-for-beginners-with-source-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628650"/>
            <a:ext cx="3200400" cy="3200400"/>
          </a:xfrm>
          <a:prstGeom prst="ellipse">
            <a:avLst/>
          </a:prstGeom>
          <a:solidFill>
            <a:srgbClr val="FF0000">
              <a:alpha val="2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D64045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760220"/>
            <a:ext cx="5665112" cy="4571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640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to R Workshop</a:t>
            </a:r>
            <a:endParaRPr lang="en-US" sz="3600" b="1" dirty="0"/>
          </a:p>
        </p:txBody>
      </p:sp>
      <p:sp>
        <p:nvSpPr>
          <p:cNvPr id="5" name="Text 3"/>
          <p:cNvSpPr/>
          <p:nvPr/>
        </p:nvSpPr>
        <p:spPr>
          <a:xfrm>
            <a:off x="548640" y="1743075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Project: Analysing Movie</a:t>
            </a:r>
            <a:r>
              <a:rPr lang="en-US" sz="2000" i="1" dirty="0">
                <a:solidFill>
                  <a:srgbClr val="C00000"/>
                </a:solidFill>
              </a:rPr>
              <a:t> </a:t>
            </a:r>
            <a:r>
              <a:rPr lang="en-US" sz="2000" b="1" i="1" dirty="0">
                <a:solidFill>
                  <a:srgbClr val="C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</a:t>
            </a:r>
            <a:endParaRPr lang="en-US" sz="2000" i="1" dirty="0">
              <a:solidFill>
                <a:srgbClr val="C0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056" y="3406727"/>
            <a:ext cx="3200400" cy="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" name="Picture 7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E64C6E29-AC2E-D9DB-B4CC-77A9DAF0A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962" y="1527717"/>
            <a:ext cx="2299521" cy="2299521"/>
          </a:xfrm>
          <a:prstGeom prst="rect">
            <a:avLst/>
          </a:prstGeom>
        </p:spPr>
      </p:pic>
      <p:sp>
        <p:nvSpPr>
          <p:cNvPr id="9" name="Text 16">
            <a:extLst>
              <a:ext uri="{FF2B5EF4-FFF2-40B4-BE49-F238E27FC236}">
                <a16:creationId xmlns:a16="http://schemas.microsoft.com/office/drawing/2014/main" id="{2A69F880-1A2E-09B7-9A9D-74FAB5F5F6D8}"/>
              </a:ext>
            </a:extLst>
          </p:cNvPr>
          <p:cNvSpPr/>
          <p:nvPr/>
        </p:nvSpPr>
        <p:spPr>
          <a:xfrm>
            <a:off x="6043962" y="38843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u="sng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THIS FOR THE RESOURCES</a:t>
            </a:r>
            <a:endParaRPr lang="en-US" sz="950" i="1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4008" cy="914400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7512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7512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1892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R useful for data 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64008" cy="914400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7512" y="2496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" y="2990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R, RStudio &amp; the packages we need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64008" cy="914400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7512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7512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" y="4087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IMDb with </a:t>
            </a:r>
            <a:r>
              <a:rPr lang="en-US" sz="100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rvest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1325880"/>
            <a:ext cx="64008" cy="914400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5192" y="1399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4965192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4965192" y="18928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messy real-world data with dplyr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800600" y="242316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2423160"/>
            <a:ext cx="64008" cy="914400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65192" y="2496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4965192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4965192" y="2990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with ggplot2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9319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00600" y="3520440"/>
            <a:ext cx="64008" cy="914400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65192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965192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4965192" y="4087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R?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is a language built for data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</a:rPr>
              <a:t>📊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Statistics-first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280160" y="18562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statisticians. Probability, regression &amp; tests are built 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</a:rPr>
              <a:t>📦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557784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ecosystem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5577840" y="18562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 hosts 20,000+ packages. tidyverse, ggplot2, rvest — all free.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</a:rPr>
              <a:t>🖼️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charts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280160" y="34564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produces publication-quality graphics with minimal code.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00000"/>
                </a:solidFill>
              </a:rPr>
              <a:t>🌐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55778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5577840" y="34564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forums, R-Ladies, </a:t>
            </a:r>
            <a:r>
              <a:rPr lang="en-US" sz="105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TidyTuesday</a:t>
            </a:r>
            <a:r>
              <a:rPr lang="en-US" sz="10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beginners are welcome.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73152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we start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65760" cy="36576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cran.r-project.org — the language itself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02920" y="2012637"/>
            <a:ext cx="365760" cy="36576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126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005840" y="2030925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RStudio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1005840" y="2250381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posit.co — the editor we'll use today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502920" y="2654699"/>
            <a:ext cx="365760" cy="36576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4459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654699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969683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highlight>
                  <a:srgbClr val="C0C0C0"/>
                </a:highlight>
              </a:rPr>
              <a:t>New Project </a:t>
            </a:r>
            <a:r>
              <a:rPr lang="en-US" sz="1000" dirty="0">
                <a:sym typeface="Wingdings" pitchFamily="2" charset="2"/>
              </a:rPr>
              <a:t> </a:t>
            </a:r>
            <a:r>
              <a:rPr lang="en-US" sz="1000" dirty="0">
                <a:highlight>
                  <a:srgbClr val="C0C0C0"/>
                </a:highlight>
                <a:sym typeface="Wingdings" pitchFamily="2" charset="2"/>
              </a:rPr>
              <a:t>New Directory </a:t>
            </a:r>
            <a:r>
              <a:rPr lang="en-US" sz="1000" dirty="0">
                <a:sym typeface="Wingdings" pitchFamily="2" charset="2"/>
              </a:rPr>
              <a:t> Navigate to </a:t>
            </a:r>
          </a:p>
          <a:p>
            <a:pPr marL="0" indent="0">
              <a:buNone/>
            </a:pPr>
            <a:r>
              <a:rPr lang="en-US" sz="1000" dirty="0">
                <a:highlight>
                  <a:srgbClr val="C0C0C0"/>
                </a:highlight>
                <a:sym typeface="Wingdings" pitchFamily="2" charset="2"/>
              </a:rPr>
              <a:t>Desktop</a:t>
            </a:r>
            <a:r>
              <a:rPr lang="en-US" sz="1000" dirty="0">
                <a:sym typeface="Wingdings" pitchFamily="2" charset="2"/>
              </a:rPr>
              <a:t>  Name the project </a:t>
            </a:r>
            <a:r>
              <a:rPr lang="en-US" sz="1000" dirty="0">
                <a:highlight>
                  <a:srgbClr val="C0C0C0"/>
                </a:highlight>
                <a:sym typeface="Wingdings" pitchFamily="2" charset="2"/>
              </a:rPr>
              <a:t>Project_1</a:t>
            </a:r>
            <a:endParaRPr lang="en-US" sz="1000" dirty="0">
              <a:highlight>
                <a:srgbClr val="C0C0C0"/>
              </a:highlight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3992239"/>
            <a:ext cx="4494007" cy="828563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4070397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(c("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rvest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"ggplot2"))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rvest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dplyr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950" dirty="0"/>
          </a:p>
        </p:txBody>
      </p:sp>
      <p:pic>
        <p:nvPicPr>
          <p:cNvPr id="29" name="Picture 28" descr="A screenshot of a computer  Description automatically generated">
            <a:extLst>
              <a:ext uri="{FF2B5EF4-FFF2-40B4-BE49-F238E27FC236}">
                <a16:creationId xmlns:a16="http://schemas.microsoft.com/office/drawing/2014/main" id="{5E75EBC6-7D7D-A067-1C6A-AC86B6704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425" y="419490"/>
            <a:ext cx="5303520" cy="3453770"/>
          </a:xfrm>
          <a:prstGeom prst="rect">
            <a:avLst/>
          </a:prstGeom>
        </p:spPr>
      </p:pic>
      <p:sp>
        <p:nvSpPr>
          <p:cNvPr id="38" name="Shape 11">
            <a:extLst>
              <a:ext uri="{FF2B5EF4-FFF2-40B4-BE49-F238E27FC236}">
                <a16:creationId xmlns:a16="http://schemas.microsoft.com/office/drawing/2014/main" id="{4B6AFF40-9BC5-0FB8-6714-EA8A14B879ED}"/>
              </a:ext>
            </a:extLst>
          </p:cNvPr>
          <p:cNvSpPr/>
          <p:nvPr/>
        </p:nvSpPr>
        <p:spPr>
          <a:xfrm>
            <a:off x="502920" y="3289831"/>
            <a:ext cx="365760" cy="36576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23EB7E2F-E980-F69B-97E3-AA8C83248258}"/>
              </a:ext>
            </a:extLst>
          </p:cNvPr>
          <p:cNvSpPr/>
          <p:nvPr/>
        </p:nvSpPr>
        <p:spPr>
          <a:xfrm>
            <a:off x="502920" y="327972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6A122868-2F1B-7F03-7CC3-6F656F4F4D41}"/>
              </a:ext>
            </a:extLst>
          </p:cNvPr>
          <p:cNvSpPr/>
          <p:nvPr/>
        </p:nvSpPr>
        <p:spPr>
          <a:xfrm>
            <a:off x="1005840" y="3289831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packages</a:t>
            </a:r>
            <a:endParaRPr lang="en-US" sz="13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4ECD0240-4FA4-E56E-E8E1-3BCB04FEE138}"/>
              </a:ext>
            </a:extLst>
          </p:cNvPr>
          <p:cNvSpPr/>
          <p:nvPr/>
        </p:nvSpPr>
        <p:spPr>
          <a:xfrm>
            <a:off x="1005840" y="3509287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once in the console (below)</a:t>
            </a:r>
            <a:endParaRPr lang="en-US" sz="100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90F74296-BA7A-2706-1AF5-ADCE1FB095CE}"/>
              </a:ext>
            </a:extLst>
          </p:cNvPr>
          <p:cNvSpPr/>
          <p:nvPr/>
        </p:nvSpPr>
        <p:spPr>
          <a:xfrm>
            <a:off x="5120640" y="3710455"/>
            <a:ext cx="3213225" cy="1214596"/>
          </a:xfrm>
          <a:prstGeom prst="rect">
            <a:avLst/>
          </a:prstGeom>
          <a:solidFill>
            <a:srgbClr val="F5C5C6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D358EEDA-03CA-A9C3-A392-CDDAFC38FAE7}"/>
              </a:ext>
            </a:extLst>
          </p:cNvPr>
          <p:cNvSpPr/>
          <p:nvPr/>
        </p:nvSpPr>
        <p:spPr>
          <a:xfrm>
            <a:off x="5250497" y="3827656"/>
            <a:ext cx="3449128" cy="896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/>
              <a:t>On a pc, you would set the working directory like this:</a:t>
            </a:r>
          </a:p>
          <a:p>
            <a:pPr marL="0" indent="0">
              <a:buNone/>
            </a:pPr>
            <a:r>
              <a:rPr lang="en-US" sz="900" dirty="0" err="1"/>
              <a:t>setwd</a:t>
            </a:r>
            <a:r>
              <a:rPr lang="en-US" sz="900" dirty="0"/>
              <a:t>("C:/Desktop/Project_1")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/>
              <a:t>On a mac, you would set the working directory like this:</a:t>
            </a:r>
          </a:p>
          <a:p>
            <a:pPr marL="0" indent="0">
              <a:buNone/>
            </a:pPr>
            <a:r>
              <a:rPr lang="en-US" sz="900" dirty="0" err="1"/>
              <a:t>setwd</a:t>
            </a:r>
            <a:r>
              <a:rPr lang="en-US" sz="900" dirty="0"/>
              <a:t>("~/Desktop/Project_1")</a:t>
            </a:r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28016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61872" y="1234440"/>
            <a:ext cx="402336" cy="402336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187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top 50 IMDb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(Jan–March 2026)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2423160"/>
            <a:ext cx="228600" cy="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51760" y="141732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10712" y="1234440"/>
            <a:ext cx="402336" cy="402336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071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572000" y="2423160"/>
            <a:ext cx="228600" cy="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141732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59552" y="1234440"/>
            <a:ext cx="402336" cy="402336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5955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80060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480060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ratings,</a:t>
            </a:r>
            <a:r>
              <a:rPr lang="en-US" sz="1000" dirty="0"/>
              <a:t> and </a:t>
            </a: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2423160"/>
            <a:ext cx="228600" cy="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0" y="1417320"/>
            <a:ext cx="1920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08392" y="1234440"/>
            <a:ext cx="402336" cy="402336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0839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694944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6949440" y="2103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ratings vs votes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ggplot2</a:t>
            </a:r>
            <a:endParaRPr lang="en-US" sz="100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7C2D46A-6453-02D0-BAFE-40031DFC9C69}"/>
              </a:ext>
            </a:extLst>
          </p:cNvPr>
          <p:cNvSpPr/>
          <p:nvPr/>
        </p:nvSpPr>
        <p:spPr>
          <a:xfrm>
            <a:off x="530352" y="3703320"/>
            <a:ext cx="7927848" cy="9098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580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#Dataset: IMDb top 50 films, Jan–March 2026  ·  Variables: title, year, runtime,</a:t>
            </a:r>
          </a:p>
          <a:p>
            <a:pPr marL="0" indent="0">
              <a:buNone/>
            </a:pPr>
            <a:r>
              <a:rPr lang="en-US" sz="10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#rating, votes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#Source: web-scraped via rvest  ·  Skills: CSS selectors, data frames, ggplot2 scatter plots</a:t>
            </a:r>
            <a:endParaRPr lang="en-US" sz="105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7160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data from the web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10561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are built with HTML. rvest lets R read that HTML and pull out the bits we want.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479583"/>
            <a:ext cx="2560320" cy="17665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5527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</a:rPr>
              <a:t>🌐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94360" y="204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55643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sends an HTTP request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IMDb URL. However, some sites like IMDb, Amazon or LinkedIn block automated access. Save the relevant IMDb page as an HTML file in your working directory. 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2183672"/>
            <a:ext cx="274320" cy="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479584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5527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</a:rPr>
              <a:t>🔍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3429000" y="204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HTML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429000" y="23208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rvest reads the page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builds a tree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897880" y="2183672"/>
            <a:ext cx="274320" cy="0"/>
          </a:xfrm>
          <a:prstGeom prst="line">
            <a:avLst/>
          </a:prstGeom>
          <a:noFill/>
          <a:ln w="1905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479584"/>
            <a:ext cx="2560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5527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</a:rPr>
              <a:t>📋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263640" y="204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263640" y="23208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pull out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elements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02920" y="3337560"/>
            <a:ext cx="5486400" cy="150876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42900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latin typeface="Courier New" panose="02070309020205020404" pitchFamily="49" charset="0"/>
                <a:cs typeface="Courier New" panose="02070309020205020404" pitchFamily="49" charset="0"/>
              </a:rPr>
              <a:t># URL to save the file (Format: Web Page, Complete):  </a:t>
            </a:r>
            <a:r>
              <a:rPr lang="en-US" sz="950" b="1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https://www.imdb.com/search/title/?title_type=feature&amp;release_date=2026-01-01,2026-03-31&amp;sort=num_votes,desc</a:t>
            </a:r>
            <a:endParaRPr lang="en-US" sz="9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95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950" dirty="0">
                <a:latin typeface="Courier New" panose="02070309020205020404" pitchFamily="49" charset="0"/>
                <a:cs typeface="Courier New" panose="02070309020205020404" pitchFamily="49" charset="0"/>
              </a:rPr>
              <a:t># Save it in your working directory. </a:t>
            </a:r>
          </a:p>
          <a:p>
            <a:pPr marL="0" indent="0">
              <a:buNone/>
            </a:pPr>
            <a:endParaRPr lang="en-US" sz="9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950" dirty="0">
                <a:latin typeface="Courier New" panose="02070309020205020404" pitchFamily="49" charset="0"/>
                <a:cs typeface="Courier New" panose="02070309020205020404" pitchFamily="49" charset="0"/>
              </a:rPr>
              <a:t>page &lt;- read_html("imdb.html")</a:t>
            </a:r>
          </a:p>
        </p:txBody>
      </p:sp>
      <p:sp>
        <p:nvSpPr>
          <p:cNvPr id="22" name="Shape 20"/>
          <p:cNvSpPr/>
          <p:nvPr/>
        </p:nvSpPr>
        <p:spPr>
          <a:xfrm>
            <a:off x="6172200" y="3048787"/>
            <a:ext cx="2651760" cy="1876264"/>
          </a:xfrm>
          <a:prstGeom prst="rect">
            <a:avLst/>
          </a:prstGeom>
          <a:solidFill>
            <a:srgbClr val="F5C5C6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00216" y="3093500"/>
            <a:ext cx="24323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
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html_nodes</a:t>
            </a: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takes a CSS selector — the same syntax used in web styling. Your browser's Dev Tools (F12) let you inspect any element to find its selector.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html_text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visible text from each matched node.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37160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Extracting all variables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1033273"/>
            <a:ext cx="5852160" cy="4034838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7784" y="781812"/>
            <a:ext cx="54864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each field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Titles (will include rank prefix e.g. "1. Project Hail Mary")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titles &lt;- page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html_nodes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("h3.ipc-title__text")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html_text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titles &lt;- titles[1:48] 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 have trimmed to 48 films as 2 of the films are missing their metadata entirely (you can check using the length(), head() and tail() functions)</a:t>
            </a:r>
          </a:p>
          <a:p>
            <a:pPr marL="0" indent="0">
              <a:buNone/>
            </a:pPr>
            <a:endParaRPr lang="en-US" sz="9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Rating and votes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&lt;- page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html_nodes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(".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-rating-star--rating")   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html_text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 &lt;- rating[1:48]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votes  &lt;- page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html_nodes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(".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-rating-star--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voteCount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html_text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votes  &lt;- votes[1:48]</a:t>
            </a:r>
          </a:p>
          <a:p>
            <a:pPr marL="0" indent="0">
              <a:buNone/>
            </a:pPr>
            <a:endParaRPr lang="en-US" sz="9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Year, runtime, certificate — all in the same repeating list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       &lt;- page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html_nodes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(".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-inline-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list__item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 %&gt;%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html_text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       &lt;- meta[seq(1, 144, 3)]</a:t>
            </a:r>
          </a:p>
          <a:p>
            <a:pPr marL="0" indent="0">
              <a:buNone/>
            </a:pP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runtime_raw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meta[seq(2, 144, 3)]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 &lt;- meta[seq(3, 144, 3)]</a:t>
            </a:r>
          </a:p>
          <a:p>
            <a:pPr marL="0" indent="0">
              <a:buNone/>
            </a:pPr>
            <a:endParaRPr lang="en-US" sz="9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movies_df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(titles, year,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runtime_raw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certificate, rating, votes,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stringsAsFactors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FALSE)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64808" y="1386060"/>
            <a:ext cx="2468880" cy="3464087"/>
          </a:xfrm>
          <a:prstGeom prst="rect">
            <a:avLst/>
          </a:prstGeom>
          <a:solidFill>
            <a:srgbClr val="F5C5C6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74536" y="1531620"/>
            <a:ext cx="224942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data.frame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spreadsheet in R. Each argument becomes a column. All columns must be the same length.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stringsAsFactors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FALSE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text as plain characters. 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operator %&gt;%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result on the left into the function on the right. Read it as "then".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the data with dplyr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2966484"/>
            <a:ext cx="5760720" cy="1742676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083442"/>
            <a:ext cx="5486400" cy="15342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movies_clean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movies_df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%&gt;%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mutate(rating =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as.numeric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(rating)) %&gt;%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mutate(votes  =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as.numeric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gsub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("[^0-9.]", "", votes)) *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ifelse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grepl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("K", votes), 1000, 1)) %&gt;%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mutate(titles  = sub("^[0-9]+\\. ", "", titles)) %&gt;%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filter(!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is.na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(rating), !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is.na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(votes))</a:t>
            </a:r>
          </a:p>
          <a:p>
            <a:pPr marL="0" indent="0">
              <a:buNone/>
            </a:pPr>
            <a:endParaRPr lang="en-US" sz="9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glimpse(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movies_clean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535833" y="1106424"/>
            <a:ext cx="2468880" cy="3749040"/>
          </a:xfrm>
          <a:prstGeom prst="rect">
            <a:avLst/>
          </a:prstGeom>
          <a:solidFill>
            <a:srgbClr val="F5C5C6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63849" y="1239012"/>
            <a:ext cx="224942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or overwrites a column. Here we overwrite the same column with a cleaned version.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gsub</a:t>
            </a: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all matches of a pattern. </a:t>
            </a:r>
            <a:r>
              <a:rPr lang="en-US" sz="9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gsub</a:t>
            </a: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(",", "", x) strips commas from x.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rows meeting the condition. !</a:t>
            </a:r>
            <a:r>
              <a:rPr lang="en-US" sz="9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is.na</a:t>
            </a: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means "not missing".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glimpse()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column names, types, and sample values — a quick sanity check.</a:t>
            </a:r>
            <a:endParaRPr lang="en-US" sz="9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CF82BF3-476E-3ED2-1716-959BD5D7E175}"/>
              </a:ext>
            </a:extLst>
          </p:cNvPr>
          <p:cNvSpPr/>
          <p:nvPr/>
        </p:nvSpPr>
        <p:spPr>
          <a:xfrm>
            <a:off x="139287" y="1106424"/>
            <a:ext cx="1998853" cy="17426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E0B5C83-C0D7-5B7C-DE86-A7E61AE05908}"/>
              </a:ext>
            </a:extLst>
          </p:cNvPr>
          <p:cNvSpPr/>
          <p:nvPr/>
        </p:nvSpPr>
        <p:spPr>
          <a:xfrm>
            <a:off x="275280" y="1318726"/>
            <a:ext cx="287579" cy="622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7E470B1-3E32-D4D8-E01C-3015A4E56BC7}"/>
              </a:ext>
            </a:extLst>
          </p:cNvPr>
          <p:cNvSpPr/>
          <p:nvPr/>
        </p:nvSpPr>
        <p:spPr>
          <a:xfrm>
            <a:off x="719514" y="1339118"/>
            <a:ext cx="1777764" cy="373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</a:t>
            </a:r>
            <a:endParaRPr lang="en-US" sz="13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5FE43C0-FBFE-28FA-7891-9D46997430A8}"/>
              </a:ext>
            </a:extLst>
          </p:cNvPr>
          <p:cNvSpPr/>
          <p:nvPr/>
        </p:nvSpPr>
        <p:spPr>
          <a:xfrm>
            <a:off x="714571" y="1691640"/>
            <a:ext cx="1462978" cy="871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and votes come back as character strings. We need numbers to calculate or plot.</a:t>
            </a:r>
            <a:endParaRPr lang="en-US" sz="105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E052DB8B-B793-2A11-0F93-B3868EB309A3}"/>
              </a:ext>
            </a:extLst>
          </p:cNvPr>
          <p:cNvSpPr/>
          <p:nvPr/>
        </p:nvSpPr>
        <p:spPr>
          <a:xfrm>
            <a:off x="2266156" y="1106424"/>
            <a:ext cx="1998854" cy="17426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06281F6-B8CD-79A3-E9D0-974553F938C6}"/>
              </a:ext>
            </a:extLst>
          </p:cNvPr>
          <p:cNvSpPr/>
          <p:nvPr/>
        </p:nvSpPr>
        <p:spPr>
          <a:xfrm>
            <a:off x="2431539" y="1318726"/>
            <a:ext cx="248196" cy="62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🕳️</a:t>
            </a:r>
            <a:endParaRPr lang="en-US" sz="2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9E0FBFAF-68EF-9116-D123-53E41B6D0485}"/>
              </a:ext>
            </a:extLst>
          </p:cNvPr>
          <p:cNvSpPr/>
          <p:nvPr/>
        </p:nvSpPr>
        <p:spPr>
          <a:xfrm>
            <a:off x="2822147" y="1349166"/>
            <a:ext cx="1534303" cy="373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A65E77F-30DA-5C3A-4E7B-4065504E07AD}"/>
              </a:ext>
            </a:extLst>
          </p:cNvPr>
          <p:cNvSpPr/>
          <p:nvPr/>
        </p:nvSpPr>
        <p:spPr>
          <a:xfrm>
            <a:off x="2845119" y="1700412"/>
            <a:ext cx="1329930" cy="871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movie has all fields. NA values will break </a:t>
            </a:r>
            <a:r>
              <a:rPr lang="en-US" sz="1050" dirty="0" err="1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</a:t>
            </a: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unless we handle them.</a:t>
            </a:r>
            <a:endParaRPr lang="en-US" sz="105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440B72C-C921-BF5D-89CA-6FDA70610A44}"/>
              </a:ext>
            </a:extLst>
          </p:cNvPr>
          <p:cNvSpPr/>
          <p:nvPr/>
        </p:nvSpPr>
        <p:spPr>
          <a:xfrm>
            <a:off x="4353617" y="1106424"/>
            <a:ext cx="1998854" cy="17426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36596A0-32C9-6087-090C-74F202576378}"/>
              </a:ext>
            </a:extLst>
          </p:cNvPr>
          <p:cNvSpPr/>
          <p:nvPr/>
        </p:nvSpPr>
        <p:spPr>
          <a:xfrm>
            <a:off x="4862472" y="1700412"/>
            <a:ext cx="1329930" cy="8713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counts are formatted with “(249K)" which is not a number R can use.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293F333E-1273-0D78-9000-2AC83EACF85D}"/>
              </a:ext>
            </a:extLst>
          </p:cNvPr>
          <p:cNvSpPr/>
          <p:nvPr/>
        </p:nvSpPr>
        <p:spPr>
          <a:xfrm>
            <a:off x="4406688" y="140131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2648133C-95F8-3A87-B294-0A3D206478EC}"/>
              </a:ext>
            </a:extLst>
          </p:cNvPr>
          <p:cNvSpPr/>
          <p:nvPr/>
        </p:nvSpPr>
        <p:spPr>
          <a:xfrm>
            <a:off x="4843711" y="1388673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numbers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graphics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ggplot2 builds every chart from the same three ingredients: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47472" cy="347472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frame you want to plot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397764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ggplot(data = movies_clean, ...)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47472" cy="347472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 (aes)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 map to x, y, colour, size…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397764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28346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aes(x = votes, y = rating)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502920" y="3931920"/>
            <a:ext cx="347472" cy="347472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1005840" y="3886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(geom)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to draw — points, bars, lines…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754880" y="3840480"/>
            <a:ext cx="397764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geom_point()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layers are added together with the + operator.</a:t>
            </a:r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scatter plot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486400" cy="374904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=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movies_clean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= votes, y = rating)) +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geom_point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"#D64045", alpha = 0.7) +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geom_smooth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(method = "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se = FALSE,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colour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"grey40") +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labs(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= "Do more-voted films rate higher?",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   = "Number of votes (log scale)",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   = "IMDb rating”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+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scale_x_log10() +</a:t>
            </a:r>
          </a:p>
          <a:p>
            <a:pPr marL="0" indent="0">
              <a:buNone/>
            </a:pP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theme_minimal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</a:p>
          <a:p>
            <a:pPr marL="0" indent="0">
              <a:buNone/>
            </a:pPr>
            <a:endParaRPr lang="en-US" sz="950" dirty="0"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950" dirty="0" err="1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imdb_plot.png</a:t>
            </a:r>
            <a:r>
              <a:rPr lang="en-US" sz="9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width = 10, height = 6, dpi = 300)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2651760" cy="3749040"/>
          </a:xfrm>
          <a:prstGeom prst="rect">
            <a:avLst/>
          </a:prstGeom>
          <a:solidFill>
            <a:srgbClr val="F5C5C6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81928" y="1321308"/>
            <a:ext cx="2432304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0.7
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point transparency (0 = invisible, 1 = solid). Useful when points overlap.
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geom_smooth(method = "lm")
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linear regression line. se = FALSE hides the confidence band.
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scale_x_log10()
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x-axis to log base 10. Useful when data spans several orders of magnitude.
</a:t>
            </a: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theme_minimal()
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chart clutter. Other options: theme_classic(), theme_bw().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your output</a:t>
            </a:r>
            <a:endParaRPr lang="en-US" sz="2800"/>
          </a:p>
        </p:txBody>
      </p:sp>
      <p:sp>
        <p:nvSpPr>
          <p:cNvPr id="6" name="Shape 3"/>
          <p:cNvSpPr/>
          <p:nvPr/>
        </p:nvSpPr>
        <p:spPr>
          <a:xfrm>
            <a:off x="5852160" y="1197864"/>
            <a:ext cx="2880360" cy="83210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52160" y="1197864"/>
            <a:ext cx="54864" cy="832104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66460" y="121571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66460" y="1462602"/>
            <a:ext cx="2766060" cy="503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variation throughout. A small sample makes individual films have an outsized effect on the pattern.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329801"/>
            <a:ext cx="288036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52160" y="2329801"/>
            <a:ext cx="54864" cy="79552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66460" y="2329801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2620123"/>
            <a:ext cx="2766061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is nearly flat — vote count and rating are not strongly correlated here. Films released Jan–March 2026 are very recent, so vote counts are still growing. 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0" y="3485146"/>
            <a:ext cx="2880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852160" y="3485146"/>
            <a:ext cx="54864" cy="74980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66460" y="350844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989320" y="3746188"/>
            <a:ext cx="2822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films sit well below the trend with a very low rating. In a small sample, outliers can shift the trend line significantly.</a:t>
            </a:r>
            <a:endParaRPr lang="en-US" sz="950" dirty="0"/>
          </a:p>
        </p:txBody>
      </p:sp>
      <p:pic>
        <p:nvPicPr>
          <p:cNvPr id="22" name="Picture 21" descr="A graph with red dots&#10;&#10;Description automatically generated">
            <a:extLst>
              <a:ext uri="{FF2B5EF4-FFF2-40B4-BE49-F238E27FC236}">
                <a16:creationId xmlns:a16="http://schemas.microsoft.com/office/drawing/2014/main" id="{A81817DF-ABD0-DFDE-C497-BAE8078E2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97864"/>
            <a:ext cx="5009536" cy="3465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questions to explore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trend raises questions. Try these extensions to dig deeper: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Does certificate rating (PG, R, etc.) affect IMDb score?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1801368"/>
            <a:ext cx="3749040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74920" y="1837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movies_clean %&gt;% group_by(certificate) %&gt;% summarise(avg = mean(rating))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5786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Does a longer runtime mean a higher rating?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937760" y="2624328"/>
            <a:ext cx="3749040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2660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ggplot(movies_clean, aes(x = runtime, y = rating)) + geom_point() + geom_smooth(method = "lm")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4015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happens if you widen the date range to all of 2025–2026?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937760" y="3447288"/>
            <a:ext cx="3749040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34838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a new page with release_date=2025-01-01,2026-03-31 and re-run. Does the trend change with more data?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42245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film is the low-rating outlier, and how many votes does it have?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937760" y="4270248"/>
            <a:ext cx="3749040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43068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movies_clean %&gt;% arrange(rating) %&gt;% select(titles, rating, votes) %&gt;% head(3)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"/>
            <a:ext cx="1097280" cy="201168"/>
          </a:xfrm>
          <a:prstGeom prst="rect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concepts from today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" y="1408176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4081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920240" y="14081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operator. x &lt;- 5 stores the value 5 in x.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73752" y="1408176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73752" y="14081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%&gt;%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217920" y="140817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Pipe: passes the left-side result into the right-side function.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" y="2258568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" y="22585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data.frame()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920240" y="2258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data. Columns can have different types.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800600" y="2148840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73752" y="2258568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73752" y="22585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mutate()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217920" y="2258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dplyr: add or modify a column.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02920" y="2999232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" y="3108960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filter()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920240" y="3108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dplyr: keep rows matching a condition.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800600" y="2999232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73752" y="3108960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73752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ggplot()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217920" y="3108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plot. Add layers with +.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502920" y="3849624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6072" y="3959352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6072" y="39593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aes()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920240" y="3959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columns to visual properties (x, y, colour, size).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4800600" y="3849624"/>
            <a:ext cx="40233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73752" y="3959352"/>
            <a:ext cx="11887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73752" y="39593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geom_point()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6217920" y="3959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scatter plot.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246120"/>
            <a:ext cx="2560320" cy="2560320"/>
          </a:xfrm>
          <a:prstGeom prst="ellipse">
            <a:avLst/>
          </a:prstGeom>
          <a:solidFill>
            <a:srgbClr val="D64045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1" y="66177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>
                <a:solidFill>
                  <a:srgbClr val="D640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you've covered today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42442" y="1347578"/>
            <a:ext cx="228600" cy="22860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08202" y="132014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Fetched real data from IMDb using </a:t>
            </a:r>
            <a:r>
              <a:rPr lang="en-US" sz="12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rvest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2442" y="1914506"/>
            <a:ext cx="228600" cy="22860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8202" y="188707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Cleaned messy scraped data with dplyr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42442" y="2481434"/>
            <a:ext cx="228600" cy="22860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8202" y="245400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a pattern with ggplot2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42442" y="3048362"/>
            <a:ext cx="228600" cy="228600"/>
          </a:xfrm>
          <a:prstGeom prst="ellipse">
            <a:avLst/>
          </a:prstGeom>
          <a:solidFill>
            <a:srgbClr val="D640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8202" y="302093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Practised reading and writing R code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42442" y="3770738"/>
            <a:ext cx="3657600" cy="0"/>
          </a:xfrm>
          <a:prstGeom prst="line">
            <a:avLst/>
          </a:prstGeom>
          <a:noFill/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qr code with black squares&#10;&#10;Description automatically generated">
            <a:extLst>
              <a:ext uri="{FF2B5EF4-FFF2-40B4-BE49-F238E27FC236}">
                <a16:creationId xmlns:a16="http://schemas.microsoft.com/office/drawing/2014/main" id="{85B4783C-33DC-12BA-6C21-83FA5C31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1" y="1485835"/>
            <a:ext cx="2560320" cy="2560320"/>
          </a:xfrm>
          <a:prstGeom prst="rect">
            <a:avLst/>
          </a:prstGeom>
        </p:spPr>
      </p:pic>
      <p:sp>
        <p:nvSpPr>
          <p:cNvPr id="15" name="Text 16">
            <a:extLst>
              <a:ext uri="{FF2B5EF4-FFF2-40B4-BE49-F238E27FC236}">
                <a16:creationId xmlns:a16="http://schemas.microsoft.com/office/drawing/2014/main" id="{4BBA59FC-D193-5CA3-D505-C0DD7E24FA52}"/>
              </a:ext>
            </a:extLst>
          </p:cNvPr>
          <p:cNvSpPr/>
          <p:nvPr/>
        </p:nvSpPr>
        <p:spPr>
          <a:xfrm>
            <a:off x="5669281" y="41605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u="sng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PLEASE TAKE 2 MINS TO FILL OUT </a:t>
            </a:r>
          </a:p>
          <a:p>
            <a:pPr marL="0" indent="0">
              <a:buNone/>
            </a:pPr>
            <a:r>
              <a:rPr lang="en-US" sz="950" i="1" u="sng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FEEDBACK FORM</a:t>
            </a:r>
            <a:endParaRPr lang="en-US" sz="950" i="1" u="sng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A98E02A8-C49F-30C1-B68B-7661016EA5DA}"/>
              </a:ext>
            </a:extLst>
          </p:cNvPr>
          <p:cNvSpPr/>
          <p:nvPr/>
        </p:nvSpPr>
        <p:spPr>
          <a:xfrm>
            <a:off x="457201" y="4109067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/>
              <a:t>For more R projects, you can check out: </a:t>
            </a:r>
          </a:p>
          <a:p>
            <a:pPr marL="0" indent="0">
              <a:buNone/>
            </a:pPr>
            <a:r>
              <a:rPr lang="en-US" sz="1250" dirty="0">
                <a:hlinkClick r:id="rId4"/>
              </a:rPr>
              <a:t>https://www.dataquest.io/blog/r-projects-for-beginners-with-source-code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41C060-2092-574E-88DD-F0535EB47E4B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2496</TotalTime>
  <Words>1822</Words>
  <Application>Microsoft Macintosh PowerPoint</Application>
  <PresentationFormat>On-screen Show (16:9)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Georgia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R: Analysing Movie Ratings</dc:title>
  <dc:subject>PptxGenJS Presentation</dc:subject>
  <dc:creator>PptxGenJS</dc:creator>
  <cp:lastModifiedBy>Mehak Mittal</cp:lastModifiedBy>
  <cp:revision>6</cp:revision>
  <dcterms:created xsi:type="dcterms:W3CDTF">2026-04-27T19:18:12Z</dcterms:created>
  <dcterms:modified xsi:type="dcterms:W3CDTF">2026-04-29T13:17:04Z</dcterms:modified>
</cp:coreProperties>
</file>